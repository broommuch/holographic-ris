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2465A"/>
                </a:solidFill>
              </a:rPr>
              <a:t>Reference image (raster) for visual comparison</a:t>
            </a:r>
          </a:p>
        </p:txBody>
      </p:sp>
      <p:pic>
        <p:nvPicPr>
          <p:cNvPr id="3" name="Picture 2" descr="holographic_mimo_c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11064240" cy="8298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2465A"/>
                </a:solidFill>
              </a:rPr>
              <a:t>This slide keeps the original PNG for comparison only. The next slide is an editable PowerPoint reconstruction.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2465A"/>
                </a:solidFill>
              </a:rPr>
              <a:t>Editable scenario reconstruction (all objects are PowerPoint shapes)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91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E7E1A"/>
                </a:solidFill>
              </a:rPr>
              <a:t>You can move / recolor / relabel each element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731520" y="822960"/>
            <a:ext cx="10607040" cy="5120640"/>
          </a:xfrm>
          <a:prstGeom prst="parallelogram">
            <a:avLst/>
          </a:prstGeom>
          <a:solidFill>
            <a:srgbClr val="E8E8E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0" y="3063240"/>
            <a:ext cx="3566160" cy="2331720"/>
          </a:xfrm>
          <a:prstGeom prst="rect">
            <a:avLst/>
          </a:prstGeom>
          <a:solidFill>
            <a:srgbClr val="46BE50"/>
          </a:solidFill>
          <a:ln>
            <a:solidFill>
              <a:srgbClr val="46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880360"/>
            <a:ext cx="6217920" cy="777240"/>
          </a:xfrm>
          <a:prstGeom prst="rect">
            <a:avLst/>
          </a:prstGeom>
          <a:solidFill>
            <a:srgbClr val="535353"/>
          </a:solidFill>
          <a:ln>
            <a:solidFill>
              <a:srgbClr val="53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220000">
            <a:off x="4983480" y="1783080"/>
            <a:ext cx="822960" cy="3474720"/>
          </a:xfrm>
          <a:prstGeom prst="rect">
            <a:avLst/>
          </a:prstGeom>
          <a:solidFill>
            <a:srgbClr val="535353"/>
          </a:solidFill>
          <a:ln>
            <a:solidFill>
              <a:srgbClr val="53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9744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6048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02352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48655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59" y="2971800"/>
            <a:ext cx="73152" cy="59436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255264"/>
            <a:ext cx="22860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3255264"/>
            <a:ext cx="22860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0480" y="3255264"/>
            <a:ext cx="22860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0" y="3255264"/>
            <a:ext cx="22860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57400" y="1508760"/>
            <a:ext cx="1828800" cy="2057400"/>
          </a:xfrm>
          <a:prstGeom prst="rect">
            <a:avLst/>
          </a:prstGeom>
          <a:solidFill>
            <a:srgbClr val="AD794F"/>
          </a:solidFill>
          <a:ln>
            <a:solidFill>
              <a:srgbClr val="7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5960" y="1353312"/>
            <a:ext cx="2011680" cy="164592"/>
          </a:xfrm>
          <a:prstGeom prst="rect">
            <a:avLst/>
          </a:prstGeom>
          <a:solidFill>
            <a:srgbClr val="787878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80" y="1783080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15768" y="1783080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91256" y="1783080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0280" y="2221991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2221991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91256" y="2221991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80" y="2660904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5768" y="2660904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1256" y="2660904"/>
            <a:ext cx="256032" cy="292608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63240" y="3044952"/>
            <a:ext cx="228600" cy="384048"/>
          </a:xfrm>
          <a:prstGeom prst="roundRect">
            <a:avLst/>
          </a:prstGeom>
          <a:solidFill>
            <a:srgbClr val="DCA082"/>
          </a:solidFill>
          <a:ln>
            <a:solidFill>
              <a:srgbClr val="DCA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" y="2514600"/>
            <a:ext cx="1143000" cy="914400"/>
          </a:xfrm>
          <a:prstGeom prst="rect">
            <a:avLst/>
          </a:prstGeom>
          <a:solidFill>
            <a:srgbClr val="ECD8D2"/>
          </a:solidFill>
          <a:ln>
            <a:solidFill>
              <a:srgbClr val="B4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2697480"/>
            <a:ext cx="1234440" cy="109728"/>
          </a:xfrm>
          <a:prstGeom prst="rect">
            <a:avLst/>
          </a:prstGeom>
          <a:solidFill>
            <a:srgbClr val="E66E6E"/>
          </a:solidFill>
          <a:ln>
            <a:solidFill>
              <a:srgbClr val="E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70432" y="2816352"/>
            <a:ext cx="201168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" y="2816352"/>
            <a:ext cx="201168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" y="3054096"/>
            <a:ext cx="201168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36192" y="3054096"/>
            <a:ext cx="201168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1783080"/>
            <a:ext cx="1097280" cy="2103120"/>
          </a:xfrm>
          <a:prstGeom prst="rect">
            <a:avLst/>
          </a:prstGeom>
          <a:solidFill>
            <a:srgbClr val="AA6E46"/>
          </a:solidFill>
          <a:ln>
            <a:solidFill>
              <a:srgbClr val="785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1965960"/>
            <a:ext cx="1188720" cy="82296"/>
          </a:xfrm>
          <a:prstGeom prst="rect">
            <a:avLst/>
          </a:prstGeom>
          <a:solidFill>
            <a:srgbClr val="D24B5F"/>
          </a:solidFill>
          <a:ln>
            <a:solidFill>
              <a:srgbClr val="D2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2697480"/>
            <a:ext cx="1188720" cy="82296"/>
          </a:xfrm>
          <a:prstGeom prst="rect">
            <a:avLst/>
          </a:prstGeom>
          <a:solidFill>
            <a:srgbClr val="D24B5F"/>
          </a:solidFill>
          <a:ln>
            <a:solidFill>
              <a:srgbClr val="D2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94192" y="2057400"/>
            <a:ext cx="384048" cy="502920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4192" y="2834640"/>
            <a:ext cx="384048" cy="502920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3675887"/>
            <a:ext cx="228600" cy="347472"/>
          </a:xfrm>
          <a:prstGeom prst="rect">
            <a:avLst/>
          </a:prstGeom>
          <a:solidFill>
            <a:srgbClr val="285028"/>
          </a:solidFill>
          <a:ln>
            <a:solidFill>
              <a:srgbClr val="28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26679" y="4251960"/>
            <a:ext cx="1508760" cy="82296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7635240" y="3886200"/>
            <a:ext cx="868680" cy="530352"/>
          </a:xfrm>
          <a:prstGeom prst="triangle">
            <a:avLst/>
          </a:prstGeom>
          <a:solidFill>
            <a:srgbClr val="6E82A0"/>
          </a:solidFill>
          <a:ln>
            <a:solidFill>
              <a:srgbClr val="6E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8229600" y="3794760"/>
            <a:ext cx="1097280" cy="621792"/>
          </a:xfrm>
          <a:prstGeom prst="triangle">
            <a:avLst/>
          </a:prstGeom>
          <a:solidFill>
            <a:srgbClr val="6E82A0"/>
          </a:solidFill>
          <a:ln>
            <a:solidFill>
              <a:srgbClr val="6E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4498848"/>
            <a:ext cx="182880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4498848"/>
            <a:ext cx="182880" cy="164592"/>
          </a:xfrm>
          <a:prstGeom prst="rect">
            <a:avLst/>
          </a:prstGeom>
          <a:solidFill>
            <a:srgbClr val="A4E7F5"/>
          </a:solidFill>
          <a:ln>
            <a:solidFill>
              <a:srgbClr val="A4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20520000">
            <a:off x="2926080" y="1042415"/>
            <a:ext cx="566928" cy="411480"/>
          </a:xfrm>
          <a:prstGeom prst="rect">
            <a:avLst/>
          </a:prstGeom>
          <a:solidFill>
            <a:srgbClr val="37465F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1088136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90672" y="1088136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9544" y="1088136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28416" y="1088136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71800" y="1188720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90672" y="1188720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9544" y="1188720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28416" y="1188720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71800" y="1289304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90672" y="1289304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9544" y="1289304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28416" y="1289304"/>
            <a:ext cx="73152" cy="64008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0400000">
            <a:off x="1417320" y="2331720"/>
            <a:ext cx="438912" cy="274320"/>
          </a:xfrm>
          <a:prstGeom prst="rect">
            <a:avLst/>
          </a:prstGeom>
          <a:solidFill>
            <a:srgbClr val="37465F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63040" y="237744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72768" y="237744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82496" y="237744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63040" y="246888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572768" y="246888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82496" y="2468880"/>
            <a:ext cx="54864" cy="45720"/>
          </a:xfrm>
          <a:prstGeom prst="rect">
            <a:avLst/>
          </a:prstGeom>
          <a:solidFill>
            <a:srgbClr val="F0B423"/>
          </a:solidFill>
          <a:ln>
            <a:solidFill>
              <a:srgbClr val="F0B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7435" y="3900830"/>
            <a:ext cx="76809" cy="219456"/>
          </a:xfrm>
          <a:prstGeom prst="rect">
            <a:avLst/>
          </a:prstGeom>
          <a:solidFill>
            <a:srgbClr val="6E4628"/>
          </a:solidFill>
          <a:ln>
            <a:solidFill>
              <a:srgbClr val="6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680" y="3813048"/>
            <a:ext cx="175564" cy="175564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56462" y="3703320"/>
            <a:ext cx="175564" cy="175564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44244" y="3813048"/>
            <a:ext cx="175564" cy="175564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19664" y="3460089"/>
            <a:ext cx="83210" cy="237744"/>
          </a:xfrm>
          <a:prstGeom prst="rect">
            <a:avLst/>
          </a:prstGeom>
          <a:solidFill>
            <a:srgbClr val="6E4628"/>
          </a:solidFill>
          <a:ln>
            <a:solidFill>
              <a:srgbClr val="6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12680" y="3364992"/>
            <a:ext cx="190195" cy="190195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107777" y="3246120"/>
            <a:ext cx="190195" cy="190195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202875" y="3364992"/>
            <a:ext cx="190195" cy="190195"/>
          </a:xfrm>
          <a:prstGeom prst="ellipse">
            <a:avLst/>
          </a:prstGeom>
          <a:solidFill>
            <a:srgbClr val="45A84F"/>
          </a:solidFill>
          <a:ln>
            <a:solidFill>
              <a:srgbClr val="45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H="1">
            <a:off x="10378440" y="3931920"/>
            <a:ext cx="274320" cy="594360"/>
          </a:xfrm>
          <a:prstGeom prst="line">
            <a:avLst/>
          </a:prstGeom>
          <a:ln w="27940">
            <a:solidFill>
              <a:srgbClr val="F0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0058400" y="4526280"/>
            <a:ext cx="320040" cy="228600"/>
          </a:xfrm>
          <a:prstGeom prst="line">
            <a:avLst/>
          </a:prstGeom>
          <a:ln w="27940">
            <a:solidFill>
              <a:srgbClr val="F0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10012680" y="4590288"/>
            <a:ext cx="201168" cy="45720"/>
          </a:xfrm>
          <a:prstGeom prst="rect">
            <a:avLst/>
          </a:prstGeom>
          <a:solidFill>
            <a:srgbClr val="A06E50"/>
          </a:solidFill>
          <a:ln>
            <a:solidFill>
              <a:srgbClr val="A0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920240" y="3767328"/>
            <a:ext cx="502920" cy="164592"/>
          </a:xfrm>
          <a:prstGeom prst="roundRect">
            <a:avLst/>
          </a:prstGeom>
          <a:solidFill>
            <a:srgbClr val="D23C3C"/>
          </a:solidFill>
          <a:ln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251960" y="3703320"/>
            <a:ext cx="256032" cy="109728"/>
          </a:xfrm>
          <a:prstGeom prst="roundRect">
            <a:avLst/>
          </a:prstGeom>
          <a:solidFill>
            <a:srgbClr val="D26E32"/>
          </a:solidFill>
          <a:ln>
            <a:solidFill>
              <a:srgbClr val="D2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355080" y="3218688"/>
            <a:ext cx="201168" cy="91440"/>
          </a:xfrm>
          <a:prstGeom prst="roundRect">
            <a:avLst/>
          </a:prstGeom>
          <a:solidFill>
            <a:srgbClr val="F5D264"/>
          </a:solidFill>
          <a:ln>
            <a:solidFill>
              <a:srgbClr val="F5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023360" y="658368"/>
            <a:ext cx="164592" cy="164592"/>
          </a:xfrm>
          <a:prstGeom prst="ellipse">
            <a:avLst/>
          </a:prstGeom>
          <a:solidFill>
            <a:srgbClr val="F5FAFF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23360" y="64008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78A0"/>
                </a:solidFill>
              </a:rPr>
              <a:t>~</a:t>
            </a:r>
          </a:p>
        </p:txBody>
      </p:sp>
      <p:sp>
        <p:nvSpPr>
          <p:cNvPr id="83" name="Oval 82"/>
          <p:cNvSpPr/>
          <p:nvPr/>
        </p:nvSpPr>
        <p:spPr>
          <a:xfrm>
            <a:off x="4892040" y="438912"/>
            <a:ext cx="164592" cy="164592"/>
          </a:xfrm>
          <a:prstGeom prst="ellipse">
            <a:avLst/>
          </a:prstGeom>
          <a:solidFill>
            <a:srgbClr val="F5FAFF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92040" y="420623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78A0"/>
                </a:solidFill>
              </a:rPr>
              <a:t>~</a:t>
            </a:r>
          </a:p>
        </p:txBody>
      </p:sp>
      <p:sp>
        <p:nvSpPr>
          <p:cNvPr id="85" name="Oval 84"/>
          <p:cNvSpPr/>
          <p:nvPr/>
        </p:nvSpPr>
        <p:spPr>
          <a:xfrm>
            <a:off x="5715000" y="658368"/>
            <a:ext cx="164592" cy="164592"/>
          </a:xfrm>
          <a:prstGeom prst="ellipse">
            <a:avLst/>
          </a:prstGeom>
          <a:solidFill>
            <a:srgbClr val="F5FAFF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15000" y="64008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78A0"/>
                </a:solidFill>
              </a:rPr>
              <a:t>~</a:t>
            </a:r>
          </a:p>
        </p:txBody>
      </p:sp>
      <p:sp>
        <p:nvSpPr>
          <p:cNvPr id="87" name="Oval 86"/>
          <p:cNvSpPr/>
          <p:nvPr/>
        </p:nvSpPr>
        <p:spPr>
          <a:xfrm>
            <a:off x="5440680" y="914400"/>
            <a:ext cx="164592" cy="164592"/>
          </a:xfrm>
          <a:prstGeom prst="ellipse">
            <a:avLst/>
          </a:prstGeom>
          <a:solidFill>
            <a:srgbClr val="F5FAFF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40680" y="89611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78A0"/>
                </a:solidFill>
              </a:rPr>
              <a:t>~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583680" y="2331720"/>
            <a:ext cx="621792" cy="320040"/>
          </a:xfrm>
          <a:prstGeom prst="roundRect">
            <a:avLst/>
          </a:prstGeom>
          <a:solidFill>
            <a:srgbClr val="FFF5E1"/>
          </a:solidFill>
          <a:ln>
            <a:solidFill>
              <a:srgbClr val="CE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65392" y="237744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E7E1A"/>
                </a:solidFill>
              </a:rPr>
              <a:t>RF ref.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3383280" y="822960"/>
            <a:ext cx="777240" cy="594360"/>
          </a:xfrm>
          <a:prstGeom prst="line">
            <a:avLst/>
          </a:prstGeom>
          <a:ln w="2540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5440680" y="777240"/>
            <a:ext cx="3108960" cy="1005840"/>
          </a:xfrm>
          <a:prstGeom prst="line">
            <a:avLst/>
          </a:prstGeom>
          <a:ln w="2540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273552" y="1417320"/>
            <a:ext cx="1161288" cy="2130552"/>
          </a:xfrm>
          <a:prstGeom prst="line">
            <a:avLst/>
          </a:prstGeom>
          <a:ln w="40640">
            <a:solidFill>
              <a:srgbClr val="1F5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874519" y="1417320"/>
            <a:ext cx="1399033" cy="1490472"/>
          </a:xfrm>
          <a:prstGeom prst="line">
            <a:avLst/>
          </a:prstGeom>
          <a:ln w="40640">
            <a:solidFill>
              <a:srgbClr val="1F5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783080" y="1417320"/>
            <a:ext cx="1490472" cy="2404871"/>
          </a:xfrm>
          <a:prstGeom prst="line">
            <a:avLst/>
          </a:prstGeom>
          <a:ln w="40640">
            <a:solidFill>
              <a:srgbClr val="1F5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8183879" y="1901952"/>
            <a:ext cx="457201" cy="2532888"/>
          </a:xfrm>
          <a:prstGeom prst="line">
            <a:avLst/>
          </a:prstGeom>
          <a:ln w="40640">
            <a:solidFill>
              <a:srgbClr val="E9B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641080" y="1901952"/>
            <a:ext cx="594360" cy="1572768"/>
          </a:xfrm>
          <a:prstGeom prst="line">
            <a:avLst/>
          </a:prstGeom>
          <a:ln w="40640">
            <a:solidFill>
              <a:srgbClr val="E9B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223760" y="2496312"/>
            <a:ext cx="1033271" cy="566928"/>
          </a:xfrm>
          <a:prstGeom prst="line">
            <a:avLst/>
          </a:prstGeom>
          <a:ln w="30480">
            <a:solidFill>
              <a:srgbClr val="CE7E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6263640" y="2057400"/>
            <a:ext cx="960120" cy="438912"/>
          </a:xfrm>
          <a:prstGeom prst="line">
            <a:avLst/>
          </a:prstGeom>
          <a:ln w="25400">
            <a:solidFill>
              <a:srgbClr val="CE7E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59168" y="2395728"/>
            <a:ext cx="201168" cy="201168"/>
          </a:xfrm>
          <a:prstGeom prst="ellipse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68312" y="23865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05050"/>
                </a:solidFill>
              </a:rPr>
              <a:t>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97480" y="8686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2465A"/>
                </a:solidFill>
              </a:rPr>
              <a:t>Holographic MIMO
receiver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23360" y="228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465A"/>
                </a:solidFill>
              </a:rPr>
              <a:t>Multiple users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88720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5FC0"/>
                </a:solidFill>
              </a:rPr>
              <a:t>Multiuser links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1812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BE23"/>
                </a:solidFill>
              </a:rPr>
              <a:t>Target users / objects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9224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7E1A"/>
                </a:solidFill>
              </a:rPr>
              <a:t>Known reference wave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6172200"/>
            <a:ext cx="11064240" cy="411480"/>
          </a:xfrm>
          <a:prstGeom prst="round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625449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Template note: objects are editable PowerPoint shapes. Ungroup / recolor / relabel as needed for your paper figure.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